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7819F-14B2-5913-4E84-7D074EC586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3371DA-20C6-47C3-5923-F8BA82EB3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83189-5BBF-158F-7B71-7BF5380AD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5540-F156-437B-A1D7-5C806F0FF8BF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47D34-32AA-76F3-3D41-FE1527EFC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490B8-C3EC-D4F6-7882-9BD3848E0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C881-D5CE-46D8-BCF5-AFD0C1AF1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81780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F1B1-3AC1-A228-AD8B-EFC240B4F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4A45F-0E8F-52D2-9571-568F3A26C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320F0-9A3A-C36C-AC72-DFF039943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5540-F156-437B-A1D7-5C806F0FF8BF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8F40D-97DD-1B3F-9CF6-519571E32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2A99C-56E2-CE9C-CE7F-925A7CEE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C881-D5CE-46D8-BCF5-AFD0C1AF1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4915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EEF32-B5F9-C14C-A481-48C05E303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0DB23-E90E-7A24-D179-C4D2C681F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9C428-1E80-CD54-5E3B-A67E975E1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5540-F156-437B-A1D7-5C806F0FF8BF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FDA15-6F15-A15D-0CB5-14187FA38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58E7A-6205-42DF-1670-E713679CE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C881-D5CE-46D8-BCF5-AFD0C1AF1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862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49B31-68DB-98C7-0F5B-BAE9A7476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C796A-CFFB-FF22-268C-213990FDA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034A0-601E-7F35-601E-974180F95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14D56-602A-CEFD-3C4C-AEAF3BA6F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5540-F156-437B-A1D7-5C806F0FF8BF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410E9F-3955-19AD-A579-9B787B8A3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3A425-E74D-17E6-481D-7961448A9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C881-D5CE-46D8-BCF5-AFD0C1AF1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75334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2D34A-EF0E-7371-66B5-CB7E27D29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3593D-E5F5-4EB8-2F32-CBF69C7D3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6C0B7-8BC4-698F-836A-C727D9D65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DA747C-1BB0-737A-4F79-27C121E508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3EB38E-95A6-F7B4-4E12-1D1002466D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423C70-9160-1C58-BAC4-7A0010A87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5540-F156-437B-A1D7-5C806F0FF8BF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F81FC6-1257-A5E5-C005-B744B25AE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A935CD-1E86-F5DC-FEBB-A0EB3620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C881-D5CE-46D8-BCF5-AFD0C1AF1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74499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500FD-3EA8-6890-8C9D-22815CB72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7E6211-C9AA-E302-EAB8-BF0AE13C3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5540-F156-437B-A1D7-5C806F0FF8BF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4ACF58-D168-8EF0-09A4-759F68315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BE4E6C-826B-DB20-5BB0-BC21E9635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C881-D5CE-46D8-BCF5-AFD0C1AF1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03684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A1A74-F5AC-00A4-31AB-A8F9B963E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5540-F156-437B-A1D7-5C806F0FF8BF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587B5B-4A8C-EE7C-08B6-3E3BBB032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5B1C4-2212-97E6-247F-38D62EDF4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C881-D5CE-46D8-BCF5-AFD0C1AF1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68571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C92CC-8EE1-ACCF-139A-AFCA9CC1D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31DC1-E371-419E-89B1-B62404CD6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0BAA0-3A84-16FA-0D0E-4F35FB891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B0D06-A7DA-F8A5-6843-D65CDE738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5540-F156-437B-A1D7-5C806F0FF8BF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002C72-9743-F547-761D-2926D5983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375C4-BCC1-DA90-1495-DCD45FE53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C881-D5CE-46D8-BCF5-AFD0C1AF1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46311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A9B78-B22A-9449-7F54-A5C185DDA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0D7F72-FF3F-DA11-F231-669FA66A2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154AC-A177-9431-53D5-5FE9A64C3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74635-3B3C-6A48-97BA-8BE4A9AA1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5540-F156-437B-A1D7-5C806F0FF8BF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96565-DFF4-36F7-8EC3-63AB19E83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535E3-9CBF-AE06-65F1-5E01E8754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C881-D5CE-46D8-BCF5-AFD0C1AF1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4802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990A3-B8DA-F6BC-070E-167E29249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108AB8-34A1-6C4F-4749-56A5D518C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1AA65-4CA6-38E8-1551-2EA4BFC96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5540-F156-437B-A1D7-5C806F0FF8BF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099CD-00C2-7BCC-06F1-7452530AF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7DE49-8805-4D43-A8BF-6EA5496E9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C881-D5CE-46D8-BCF5-AFD0C1AF1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57404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F8C722-CB7F-B85C-281F-E60423BBB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0A563F-8B81-31F9-26DD-4E9DF30FE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2B8B8-A8DB-FCB5-59D3-AAF923CF5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5540-F156-437B-A1D7-5C806F0FF8BF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5774E-3855-AE18-BE44-D8930E46F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F8183-B0F3-E31E-36CE-E41FEA55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C881-D5CE-46D8-BCF5-AFD0C1AF1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58928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91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06FA7F-B9BE-F3A7-AF64-06957C8ED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9CD17-38AC-6359-D091-11415483B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FA263-CEC7-7105-28D9-91072F8BF3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45540-F156-437B-A1D7-5C806F0FF8BF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BC95A-5DD6-5CDF-EBA4-347C87722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D01AC-25B4-0149-998E-0AFE3A982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4C881-D5CE-46D8-BCF5-AFD0C1AF1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218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92608" y="164592"/>
            <a:ext cx="105156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92608" y="164592"/>
            <a:ext cx="1051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D3A"/>
                </a:solidFill>
              </a:rPr>
              <a:t>CPG 221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74320" y="640080"/>
            <a:ext cx="67665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Selective Knowledge Erasure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274320" y="1335024"/>
            <a:ext cx="67665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Large Language Models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274320" y="2084832"/>
            <a:ext cx="5029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2176272"/>
            <a:ext cx="6858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0E0EF"/>
                </a:solidFill>
              </a:rPr>
              <a:t>A Representation-Aware Unlearning Framework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74320" y="2962656"/>
            <a:ext cx="5349240" cy="1773936"/>
          </a:xfrm>
          <a:prstGeom prst="rect">
            <a:avLst/>
          </a:prstGeom>
          <a:solidFill>
            <a:srgbClr val="162A4A"/>
          </a:solidFill>
          <a:ln w="12700">
            <a:solidFill>
              <a:srgbClr val="0077A8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11480" y="3017520"/>
            <a:ext cx="5029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Team Members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11480" y="3291840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Rishabh Garg (102317044)      |      Karanvir Singh (102317045)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11480" y="3602736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Kalpesh Paliwal (102317087)   |      Rujul Ganjoo (102317200)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11480" y="3913632"/>
            <a:ext cx="5074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Pranav Goyal (102303829)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806440" y="2962656"/>
            <a:ext cx="3127248" cy="1773936"/>
          </a:xfrm>
          <a:prstGeom prst="rect">
            <a:avLst/>
          </a:prstGeom>
          <a:solidFill>
            <a:srgbClr val="162A4A"/>
          </a:solidFill>
          <a:ln w="12700">
            <a:solidFill>
              <a:srgbClr val="0077A8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943600" y="3017520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Mentor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943600" y="3291840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Dr. Suresh Kumar Chaudhary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943600" y="3566160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5DA"/>
                </a:solidFill>
              </a:rPr>
              <a:t>Assistant Professor – I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943600" y="3822192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5DA"/>
                </a:solidFill>
              </a:rPr>
              <a:t>Deptartment of Computer Science &amp; Engineering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943600" y="4352544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A4"/>
                </a:solidFill>
              </a:rPr>
              <a:t>March 2026</a:t>
            </a:r>
            <a:endParaRPr lang="en-US" sz="900" dirty="0"/>
          </a:p>
        </p:txBody>
      </p:sp>
      <p:pic>
        <p:nvPicPr>
          <p:cNvPr id="24" name="Picture 23" descr="WhatsApp_Image_2026-03-21_at_3.00.55_PM-removebg-preview"/>
          <p:cNvPicPr>
            <a:picLocks noChangeAspect="1"/>
          </p:cNvPicPr>
          <p:nvPr/>
        </p:nvPicPr>
        <p:blipFill>
          <a:blip r:embed="rId3"/>
          <a:srcRect l="20306" r="16912" b="32474"/>
          <a:stretch>
            <a:fillRect/>
          </a:stretch>
        </p:blipFill>
        <p:spPr>
          <a:xfrm>
            <a:off x="8228838" y="256923"/>
            <a:ext cx="704850" cy="6183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046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 &amp; Need Analysis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82880" y="685800"/>
            <a:ext cx="4206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685800"/>
            <a:ext cx="4206240" cy="402336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" y="685800"/>
            <a:ext cx="391363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Overview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9184" y="1152144"/>
            <a:ext cx="3913632" cy="3520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LLMs encode sensitive &amp; hazardous knowledge across billions of parameters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GDPR mandates post-hoc right-to-erasure for deployed AI systems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</a:rPr>
              <a:t>LLM Unlearning: modify Pθ → Pθ* without retraining from scratch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Key gap: existing methods produce obfuscation, not true erasure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Goal: representation-aware, durable, specificity-preserving framework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685800"/>
            <a:ext cx="21214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685800"/>
            <a:ext cx="2121408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685800"/>
            <a:ext cx="193852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Gradient Ascent Fails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727448" y="1143000"/>
            <a:ext cx="1901952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Cannot suppress logically related knowledge outside the forget-set — UIPE [4]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839712" y="685800"/>
            <a:ext cx="21214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39712" y="685800"/>
            <a:ext cx="2121408" cy="40233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31152" y="685800"/>
            <a:ext cx="193852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Obfuscation ≠ True Erasure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949440" y="1143000"/>
            <a:ext cx="1901952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Surface refusal hides latent traces — KIF [5] shows Type II failure in prior methods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17720" y="2761488"/>
            <a:ext cx="21214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17720" y="2761488"/>
            <a:ext cx="2121408" cy="40233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09160" y="2761488"/>
            <a:ext cx="193852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Specificity Loss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27448" y="3218688"/>
            <a:ext cx="1901952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Adjacent knowledge erased inadvertently — PISCES [3] achieves 31% ↑ specificity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39712" y="2761488"/>
            <a:ext cx="21214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839712" y="2761488"/>
            <a:ext cx="2121408" cy="402336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31152" y="2761488"/>
            <a:ext cx="193852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Adversarial Vulnerability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949440" y="3218688"/>
            <a:ext cx="1901952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Fine-tuning attacks recover 'erased' knowledge — parameter-level editing is needed</a:t>
            </a:r>
            <a:endParaRPr lang="en-US" sz="950" dirty="0"/>
          </a:p>
        </p:txBody>
      </p:sp>
      <p:pic>
        <p:nvPicPr>
          <p:cNvPr id="27" name="Picture 26" descr="WhatsApp_Image_2026-03-21_at_3.00.55_PM-removebg-preview">
            <a:extLst>
              <a:ext uri="{FF2B5EF4-FFF2-40B4-BE49-F238E27FC236}">
                <a16:creationId xmlns:a16="http://schemas.microsoft.com/office/drawing/2014/main" id="{941D5CA7-9198-41B7-F781-641C5CE512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306" r="16912" b="32474"/>
          <a:stretch>
            <a:fillRect/>
          </a:stretch>
        </p:blipFill>
        <p:spPr>
          <a:xfrm>
            <a:off x="8494585" y="74002"/>
            <a:ext cx="494157" cy="4334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046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Related Work / Literature Survey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82880" y="713232"/>
            <a:ext cx="28346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713232"/>
            <a:ext cx="283464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713232"/>
            <a:ext cx="2651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ELM [2]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74320" y="1170432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D3A"/>
                </a:solidFill>
              </a:rPr>
              <a:t>Erasing Conceptual Knowledge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74320" y="1426464"/>
            <a:ext cx="2651760" cy="10789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Self-classification: novice vs expert prefix shifts output distribution. LoRA on early layers. Near-random WMDP accuracy post-erasure; some specificity degradation.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27248" y="713232"/>
            <a:ext cx="28346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27248" y="713232"/>
            <a:ext cx="2834640" cy="40233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18688" y="713232"/>
            <a:ext cx="2651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PISCES [3]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218688" y="1170432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D3A"/>
                </a:solidFill>
              </a:rPr>
              <a:t>Precise In-Parameter Erasure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218688" y="1426464"/>
            <a:ext cx="2651760" cy="10789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SAE disentangler decomposes MLP vectors into features. VocabProj identifies concept directions. Ablates activations in-place — 31% ↑ specificity, 38% ↑ robustness vs ELM.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71616" y="713232"/>
            <a:ext cx="28346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71616" y="713232"/>
            <a:ext cx="2834640" cy="40233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63056" y="713232"/>
            <a:ext cx="2651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UIPE [4]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163056" y="1170432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D3A"/>
                </a:solidFill>
              </a:rPr>
              <a:t>Parameter Extrapolation Unlearning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163056" y="1426464"/>
            <a:ext cx="2651760" cy="10789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Related knowledge shares gradient cosine similarity. Amplifies update vector v by scalar α — extends forgetting to related set without additional training data.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581912" y="2779776"/>
            <a:ext cx="2834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581912" y="2779776"/>
            <a:ext cx="2834640" cy="402336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73352" y="2779776"/>
            <a:ext cx="2651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KIF [5]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673352" y="3236976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D3A"/>
                </a:solidFill>
              </a:rPr>
              <a:t>Activation-Signature Erasure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673352" y="3493008"/>
            <a:ext cx="26517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Mines subject signatures via Cohen's d; Suppression Capsules gate parallel activations; UPU Loop distils into LoRA. FQ ≈ 0.99, MU = 0.62 — near-oracle on TOFU forget-10.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17720" y="2779776"/>
            <a:ext cx="2834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17720" y="2779776"/>
            <a:ext cx="283464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09160" y="2779776"/>
            <a:ext cx="2651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Steer [1]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709160" y="3236976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D3A"/>
                </a:solidFill>
              </a:rPr>
              <a:t>Steering Latent Representations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709160" y="3493008"/>
            <a:ext cx="26517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Proves weight-level changes alone ≠ true erasure. Validates the need for dual-metric evaluation (SMR + EL10). Motivates representation-aware approaches such as KIF.</a:t>
            </a:r>
            <a:endParaRPr lang="en-US" sz="900" dirty="0"/>
          </a:p>
        </p:txBody>
      </p:sp>
      <p:pic>
        <p:nvPicPr>
          <p:cNvPr id="32" name="Picture 31" descr="WhatsApp_Image_2026-03-21_at_3.00.55_PM-removebg-preview">
            <a:extLst>
              <a:ext uri="{FF2B5EF4-FFF2-40B4-BE49-F238E27FC236}">
                <a16:creationId xmlns:a16="http://schemas.microsoft.com/office/drawing/2014/main" id="{C3F63BD2-EAC6-9E9E-1C99-9E267FE7F4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306" r="16912" b="32474"/>
          <a:stretch>
            <a:fillRect/>
          </a:stretch>
        </p:blipFill>
        <p:spPr>
          <a:xfrm>
            <a:off x="8494585" y="74002"/>
            <a:ext cx="494157" cy="4334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046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82880" y="685800"/>
            <a:ext cx="8778240" cy="987552"/>
          </a:xfrm>
          <a:prstGeom prst="rect">
            <a:avLst/>
          </a:prstGeom>
          <a:solidFill>
            <a:srgbClr val="0B1D3A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685800"/>
            <a:ext cx="91440" cy="9875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713232"/>
            <a:ext cx="3657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84048" y="932688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F4F8"/>
                </a:solidFill>
              </a:rPr>
              <a:t>LLMs retain latent traces of erased knowledge (obfuscation ≠ true erasure), reconstruct forgotten facts via related knowledge, and degrade utility on unrelated tasks — demanding a verifiable, representation-aware, specificity-preserving unlearning framework.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82880" y="1828800"/>
            <a:ext cx="43159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0896" y="1956816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0896" y="19568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59536" y="1956816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D3A"/>
                </a:solidFill>
              </a:rPr>
              <a:t>Survey &amp; Comparative Analysis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59536" y="2249424"/>
            <a:ext cx="3520440" cy="969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Systematic comparison of ELM, PISCES, UIPE, KIF &amp; steering methods on TOFU / WMDP — efficacy, specificity, coherence, robustness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81728" y="1828800"/>
            <a:ext cx="43159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09744" y="1956816"/>
            <a:ext cx="457200" cy="45720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09744" y="19568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358384" y="1956816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D3A"/>
                </a:solidFill>
              </a:rPr>
              <a:t>Dual-Metric Evaluation Framework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358384" y="2249424"/>
            <a:ext cx="3520440" cy="969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SMR + EL10 protocol: classify outcomes as Type I (true erasure), Type II (obfuscation), or Type III (instability)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82880" y="3383280"/>
            <a:ext cx="43159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10896" y="3511296"/>
            <a:ext cx="457200" cy="45720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10896" y="35112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59536" y="3511296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D3A"/>
                </a:solidFill>
              </a:rPr>
              <a:t>Related-Knowledge-Aware Unlearning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59536" y="3803904"/>
            <a:ext cx="3520440" cy="969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Parameter extrapolation </a:t>
            </a:r>
            <a:r>
              <a:rPr lang="en-US" sz="950" dirty="0" err="1">
                <a:solidFill>
                  <a:srgbClr val="374151"/>
                </a:solidFill>
              </a:rPr>
              <a:t>θ</a:t>
            </a:r>
            <a:r>
              <a:rPr lang="en-US" sz="950" baseline="-25000" dirty="0" err="1">
                <a:solidFill>
                  <a:srgbClr val="374151"/>
                </a:solidFill>
              </a:rPr>
              <a:t>uipe</a:t>
            </a:r>
            <a:r>
              <a:rPr lang="en-US" sz="950" dirty="0">
                <a:solidFill>
                  <a:srgbClr val="374151"/>
                </a:solidFill>
              </a:rPr>
              <a:t> = </a:t>
            </a:r>
            <a:r>
              <a:rPr lang="en-US" sz="950" dirty="0" err="1">
                <a:solidFill>
                  <a:srgbClr val="374151"/>
                </a:solidFill>
              </a:rPr>
              <a:t>θ</a:t>
            </a:r>
            <a:r>
              <a:rPr lang="en-US" sz="950" baseline="-25000" dirty="0" err="1">
                <a:solidFill>
                  <a:srgbClr val="374151"/>
                </a:solidFill>
              </a:rPr>
              <a:t>un</a:t>
            </a:r>
            <a:r>
              <a:rPr lang="en-US" sz="950" dirty="0">
                <a:solidFill>
                  <a:srgbClr val="374151"/>
                </a:solidFill>
              </a:rPr>
              <a:t> + α·v extends forgetting to logically related knowledge without extra training data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681728" y="3383280"/>
            <a:ext cx="431596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09744" y="3511296"/>
            <a:ext cx="457200" cy="45720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09744" y="35112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O4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358384" y="3511296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D3A"/>
                </a:solidFill>
              </a:rPr>
              <a:t>Representation-Aware Integration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358384" y="3803904"/>
            <a:ext cx="3520440" cy="969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Unify activation-signature extraction, Suppression Capsules, and UPU Loop into a single LoRA-based durable erasure framework</a:t>
            </a:r>
            <a:endParaRPr lang="en-US" sz="950" dirty="0"/>
          </a:p>
        </p:txBody>
      </p:sp>
      <p:pic>
        <p:nvPicPr>
          <p:cNvPr id="31" name="Picture 30" descr="WhatsApp_Image_2026-03-21_at_3.00.55_PM-removebg-preview">
            <a:extLst>
              <a:ext uri="{FF2B5EF4-FFF2-40B4-BE49-F238E27FC236}">
                <a16:creationId xmlns:a16="http://schemas.microsoft.com/office/drawing/2014/main" id="{328C1B4E-7C4B-428D-9C5E-23DD96CD7D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306" r="16912" b="32474"/>
          <a:stretch>
            <a:fillRect/>
          </a:stretch>
        </p:blipFill>
        <p:spPr>
          <a:xfrm>
            <a:off x="8494585" y="74002"/>
            <a:ext cx="494157" cy="4334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046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Assumptions &amp; Constraints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82880" y="685800"/>
            <a:ext cx="4251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685800"/>
            <a:ext cx="4251960" cy="402336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704088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Assumptions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20700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1792" y="1161288"/>
            <a:ext cx="36576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Open-source LLMs (Llama-3.1-8B, Mistral-7B) available under public licences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819656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1792" y="1773936"/>
            <a:ext cx="36576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Knowledge is partially localised in MLP layers — consistent with causal-tracing evidence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2432304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1792" y="2386584"/>
            <a:ext cx="36576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Related knowledge exhibits higher gradient cosine similarity to the forget-set target</a:t>
            </a:r>
            <a:endParaRPr lang="en-US" sz="10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3044952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21792" y="2999232"/>
            <a:ext cx="36576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TOFU, WMDP-Bio, WMDP-Cyber are representative of practical unlearning scenarios</a:t>
            </a:r>
            <a:endParaRPr lang="en-US" sz="10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3657600"/>
            <a:ext cx="201168" cy="20116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21792" y="3611880"/>
            <a:ext cx="36576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4-bit quantised models yield qualitatively consistent results vs full-precision</a:t>
            </a:r>
            <a:endParaRPr lang="en-US" sz="1000" dirty="0"/>
          </a:p>
        </p:txBody>
      </p:sp>
      <p:sp>
        <p:nvSpPr>
          <p:cNvPr id="21" name="Shape 12"/>
          <p:cNvSpPr/>
          <p:nvPr/>
        </p:nvSpPr>
        <p:spPr>
          <a:xfrm>
            <a:off x="4709160" y="685800"/>
            <a:ext cx="4251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3"/>
          <p:cNvSpPr/>
          <p:nvPr/>
        </p:nvSpPr>
        <p:spPr>
          <a:xfrm>
            <a:off x="4709160" y="685800"/>
            <a:ext cx="4251960" cy="402336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749808"/>
            <a:ext cx="256032" cy="25603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120640" y="704088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7F00"/>
                </a:solidFill>
              </a:rPr>
              <a:t>Constraints</a:t>
            </a:r>
            <a:endParaRPr lang="en-US" sz="1300" dirty="0"/>
          </a:p>
        </p:txBody>
      </p:sp>
      <p:sp>
        <p:nvSpPr>
          <p:cNvPr id="25" name="Shape 15"/>
          <p:cNvSpPr/>
          <p:nvPr/>
        </p:nvSpPr>
        <p:spPr>
          <a:xfrm>
            <a:off x="4846320" y="1188720"/>
            <a:ext cx="749808" cy="24688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6" name="Text 16"/>
          <p:cNvSpPr/>
          <p:nvPr/>
        </p:nvSpPr>
        <p:spPr>
          <a:xfrm>
            <a:off x="4846320" y="1188720"/>
            <a:ext cx="7498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Compute</a:t>
            </a:r>
            <a:endParaRPr lang="en-US" sz="850" dirty="0"/>
          </a:p>
        </p:txBody>
      </p:sp>
      <p:sp>
        <p:nvSpPr>
          <p:cNvPr id="27" name="Text 17"/>
          <p:cNvSpPr/>
          <p:nvPr/>
        </p:nvSpPr>
        <p:spPr>
          <a:xfrm>
            <a:off x="5669280" y="1161288"/>
            <a:ext cx="3154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NVIDIA A100/A6000 (40 GB VRAM); 7B–8B models primary; larger models conditionally</a:t>
            </a:r>
            <a:endParaRPr lang="en-US" sz="950" dirty="0"/>
          </a:p>
        </p:txBody>
      </p:sp>
      <p:sp>
        <p:nvSpPr>
          <p:cNvPr id="28" name="Shape 18"/>
          <p:cNvSpPr/>
          <p:nvPr/>
        </p:nvSpPr>
        <p:spPr>
          <a:xfrm>
            <a:off x="4846320" y="1783080"/>
            <a:ext cx="749808" cy="24688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4846320" y="1783080"/>
            <a:ext cx="7498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Data</a:t>
            </a:r>
            <a:endParaRPr lang="en-US" sz="850" dirty="0"/>
          </a:p>
        </p:txBody>
      </p:sp>
      <p:sp>
        <p:nvSpPr>
          <p:cNvPr id="30" name="Text 20"/>
          <p:cNvSpPr/>
          <p:nvPr/>
        </p:nvSpPr>
        <p:spPr>
          <a:xfrm>
            <a:off x="5669280" y="1755648"/>
            <a:ext cx="3154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Public benchmark datasets only — no PII or proprietary training data processed</a:t>
            </a:r>
            <a:endParaRPr lang="en-US" sz="950" dirty="0"/>
          </a:p>
        </p:txBody>
      </p:sp>
      <p:sp>
        <p:nvSpPr>
          <p:cNvPr id="31" name="Shape 21"/>
          <p:cNvSpPr/>
          <p:nvPr/>
        </p:nvSpPr>
        <p:spPr>
          <a:xfrm>
            <a:off x="4846320" y="2377440"/>
            <a:ext cx="749808" cy="24688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4846320" y="2377440"/>
            <a:ext cx="7498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Scope</a:t>
            </a:r>
            <a:endParaRPr lang="en-US" sz="850" dirty="0"/>
          </a:p>
        </p:txBody>
      </p:sp>
      <p:sp>
        <p:nvSpPr>
          <p:cNvPr id="33" name="Text 23"/>
          <p:cNvSpPr/>
          <p:nvPr/>
        </p:nvSpPr>
        <p:spPr>
          <a:xfrm>
            <a:off x="5669280" y="2350008"/>
            <a:ext cx="3154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English-language models only; cross-lingual generalisation deferred to future work</a:t>
            </a:r>
            <a:endParaRPr lang="en-US" sz="950" dirty="0"/>
          </a:p>
        </p:txBody>
      </p:sp>
      <p:sp>
        <p:nvSpPr>
          <p:cNvPr id="34" name="Shape 24"/>
          <p:cNvSpPr/>
          <p:nvPr/>
        </p:nvSpPr>
        <p:spPr>
          <a:xfrm>
            <a:off x="4846320" y="2971800"/>
            <a:ext cx="749808" cy="24688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4846320" y="2971800"/>
            <a:ext cx="7498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Time</a:t>
            </a:r>
            <a:endParaRPr lang="en-US" sz="850" dirty="0"/>
          </a:p>
        </p:txBody>
      </p:sp>
      <p:sp>
        <p:nvSpPr>
          <p:cNvPr id="36" name="Text 26"/>
          <p:cNvSpPr/>
          <p:nvPr/>
        </p:nvSpPr>
        <p:spPr>
          <a:xfrm>
            <a:off x="5669280" y="2944368"/>
            <a:ext cx="3154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Bounded by academic semester; model count and benchmarks limited per the work plan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4846320" y="3566160"/>
            <a:ext cx="749808" cy="24688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4846320" y="3566160"/>
            <a:ext cx="749808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Ethics</a:t>
            </a:r>
            <a:endParaRPr lang="en-US" sz="850" dirty="0"/>
          </a:p>
        </p:txBody>
      </p:sp>
      <p:sp>
        <p:nvSpPr>
          <p:cNvPr id="39" name="Text 29"/>
          <p:cNvSpPr/>
          <p:nvPr/>
        </p:nvSpPr>
        <p:spPr>
          <a:xfrm>
            <a:off x="5669280" y="3538728"/>
            <a:ext cx="3154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No harmful content created; targets limited to TOFU / WMDP / public entities only</a:t>
            </a:r>
            <a:endParaRPr lang="en-US" sz="950" dirty="0"/>
          </a:p>
        </p:txBody>
      </p:sp>
      <p:pic>
        <p:nvPicPr>
          <p:cNvPr id="40" name="Picture 39" descr="WhatsApp_Image_2026-03-21_at_3.00.55_PM-removebg-preview">
            <a:extLst>
              <a:ext uri="{FF2B5EF4-FFF2-40B4-BE49-F238E27FC236}">
                <a16:creationId xmlns:a16="http://schemas.microsoft.com/office/drawing/2014/main" id="{E9A6E196-6178-7715-BF8E-FDDBDA48AB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306" r="16912" b="32474"/>
          <a:stretch>
            <a:fillRect/>
          </a:stretch>
        </p:blipFill>
        <p:spPr>
          <a:xfrm>
            <a:off x="8494585" y="74002"/>
            <a:ext cx="494157" cy="4334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046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Execution Plan (Methodology)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82880" y="685800"/>
            <a:ext cx="208483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685800"/>
            <a:ext cx="2084832" cy="7863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685800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74320" y="1005840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Baseline Reproduction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4320" y="1508760"/>
            <a:ext cx="1901952" cy="27432"/>
          </a:xfrm>
          <a:prstGeom prst="rect">
            <a:avLst/>
          </a:prstGeom>
          <a:solidFill>
            <a:srgbClr val="DDE8F0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1572768"/>
            <a:ext cx="1901952" cy="30906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Reproduce ELM, PISCES, RMU on TOFU-forget10 &amp; WMDP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Implement SMR + EL10 dual-metric evaluator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Classify results: Type I / II / III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Ablation: isolate contribution of each loss term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267712" y="2706624"/>
            <a:ext cx="13716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04872" y="685800"/>
            <a:ext cx="208483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04872" y="685800"/>
            <a:ext cx="2084832" cy="78638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96312" y="685800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2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496312" y="1005840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Related-Knowledge Unlearning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496312" y="1508760"/>
            <a:ext cx="1901952" cy="27432"/>
          </a:xfrm>
          <a:prstGeom prst="rect">
            <a:avLst/>
          </a:prstGeom>
          <a:solidFill>
            <a:srgbClr val="DDE8F0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96312" y="1572768"/>
            <a:ext cx="1901952" cy="30906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Build synthetic dataset (k</a:t>
            </a:r>
            <a:r>
              <a:rPr lang="en-US" sz="1000" baseline="-25000" dirty="0">
                <a:solidFill>
                  <a:srgbClr val="1E293B"/>
                </a:solidFill>
              </a:rPr>
              <a:t>i</a:t>
            </a:r>
            <a:r>
              <a:rPr lang="en-US" sz="1000" dirty="0">
                <a:solidFill>
                  <a:srgbClr val="1E293B"/>
                </a:solidFill>
              </a:rPr>
              <a:t> ↔ </a:t>
            </a:r>
            <a:r>
              <a:rPr lang="en-US" sz="1000" dirty="0" err="1">
                <a:solidFill>
                  <a:srgbClr val="1E293B"/>
                </a:solidFill>
              </a:rPr>
              <a:t>k</a:t>
            </a:r>
            <a:r>
              <a:rPr lang="en-US" sz="1000" baseline="30000" dirty="0" err="1">
                <a:solidFill>
                  <a:srgbClr val="1E293B"/>
                </a:solidFill>
              </a:rPr>
              <a:t>′</a:t>
            </a:r>
            <a:r>
              <a:rPr lang="en-US" sz="1000" baseline="-25000" dirty="0" err="1">
                <a:solidFill>
                  <a:srgbClr val="1E293B"/>
                </a:solidFill>
              </a:rPr>
              <a:t>i</a:t>
            </a:r>
            <a:r>
              <a:rPr lang="en-US" sz="1000" dirty="0">
                <a:solidFill>
                  <a:srgbClr val="1E293B"/>
                </a:solidFill>
              </a:rPr>
              <a:t> via GPT-4o)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Measure gradient cosine similarity empirically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Apply UIPE extrapolation: </a:t>
            </a:r>
            <a:r>
              <a:rPr lang="en-US" sz="1000" dirty="0" err="1">
                <a:solidFill>
                  <a:srgbClr val="1E293B"/>
                </a:solidFill>
              </a:rPr>
              <a:t>θ</a:t>
            </a:r>
            <a:r>
              <a:rPr lang="en-US" sz="1000" baseline="-25000" dirty="0" err="1">
                <a:solidFill>
                  <a:srgbClr val="1E293B"/>
                </a:solidFill>
              </a:rPr>
              <a:t>uipe</a:t>
            </a:r>
            <a:r>
              <a:rPr lang="en-US" sz="1000" dirty="0">
                <a:solidFill>
                  <a:srgbClr val="1E293B"/>
                </a:solidFill>
              </a:rPr>
              <a:t> = </a:t>
            </a:r>
            <a:r>
              <a:rPr lang="en-US" sz="1000" dirty="0" err="1">
                <a:solidFill>
                  <a:srgbClr val="1E293B"/>
                </a:solidFill>
              </a:rPr>
              <a:t>θ</a:t>
            </a:r>
            <a:r>
              <a:rPr lang="en-US" sz="1000" baseline="-25000" dirty="0" err="1">
                <a:solidFill>
                  <a:srgbClr val="1E293B"/>
                </a:solidFill>
              </a:rPr>
              <a:t>un</a:t>
            </a:r>
            <a:r>
              <a:rPr lang="en-US" sz="1000" dirty="0">
                <a:solidFill>
                  <a:srgbClr val="1E293B"/>
                </a:solidFill>
              </a:rPr>
              <a:t> + α·v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Ablation over amplification coefficient α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489704" y="2706624"/>
            <a:ext cx="13716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26864" y="685800"/>
            <a:ext cx="208483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26864" y="685800"/>
            <a:ext cx="2084832" cy="786384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18304" y="685800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3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18304" y="1005840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Representation-Aware Framework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718304" y="1508760"/>
            <a:ext cx="1901952" cy="27432"/>
          </a:xfrm>
          <a:prstGeom prst="rect">
            <a:avLst/>
          </a:prstGeom>
          <a:solidFill>
            <a:srgbClr val="DDE8F0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18304" y="1572768"/>
            <a:ext cx="1901952" cy="30906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Extract MLP activation signatures via Cohen's d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Implement Knowledge Suppression Capsules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Train UPU Loop: DPO + NTUL + KL + EWC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Distil into global LoRA adapter &amp; merge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711696" y="2706624"/>
            <a:ext cx="13716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848856" y="685800"/>
            <a:ext cx="208483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848856" y="685800"/>
            <a:ext cx="2084832" cy="786384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40296" y="685800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4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940296" y="1005840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Integrated Evaluation &amp; Report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940296" y="1508760"/>
            <a:ext cx="1901952" cy="27432"/>
          </a:xfrm>
          <a:prstGeom prst="rect">
            <a:avLst/>
          </a:prstGeom>
          <a:solidFill>
            <a:srgbClr val="DDE8F0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40296" y="1572768"/>
            <a:ext cx="1901952" cy="30906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Evaluate on TOFU, WMDP, RWKU (4-subject)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Zero-shot: ARC, HellaSwag, WinoGrande, TruthfulQA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Compile and analyse full results table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Write final report &amp; prepare panel presentation</a:t>
            </a:r>
            <a:endParaRPr lang="en-US" sz="1000" dirty="0"/>
          </a:p>
        </p:txBody>
      </p:sp>
      <p:pic>
        <p:nvPicPr>
          <p:cNvPr id="34" name="Picture 33" descr="WhatsApp_Image_2026-03-21_at_3.00.55_PM-removebg-preview">
            <a:extLst>
              <a:ext uri="{FF2B5EF4-FFF2-40B4-BE49-F238E27FC236}">
                <a16:creationId xmlns:a16="http://schemas.microsoft.com/office/drawing/2014/main" id="{C4B16435-04D2-3B17-01B9-B26A5CA6AE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306" r="16912" b="32474"/>
          <a:stretch>
            <a:fillRect/>
          </a:stretch>
        </p:blipFill>
        <p:spPr>
          <a:xfrm>
            <a:off x="8494585" y="74002"/>
            <a:ext cx="494157" cy="4334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046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Requirements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82880" y="685800"/>
            <a:ext cx="2834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685800"/>
            <a:ext cx="2834640" cy="5852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768096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713232"/>
            <a:ext cx="215798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Software &amp; Platforms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47472" y="1353312"/>
            <a:ext cx="2542032" cy="3337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Python 3.10+  /  PyTorch 2.x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HuggingFace Transformers + PEFT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lm-evaluation-harness (EleutherAI)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SAELens / TransformerLens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ROUGE-L  /  BERTScore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Git / GitHub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LaTeX (Overleaf)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172968" y="685800"/>
            <a:ext cx="2834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172968" y="685800"/>
            <a:ext cx="2834640" cy="58521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768096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39896" y="713232"/>
            <a:ext cx="215798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Hardware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337560" y="1353312"/>
            <a:ext cx="2542032" cy="3337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NVIDIA A100 / A6000 — 40 GB VRAM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4-bit quantised inference (primary)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Multi-GPU cluster (preferred)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Model range: 7B – 8B parameters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~500 GB storage (models + datasets)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163056" y="685800"/>
            <a:ext cx="2834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63056" y="685800"/>
            <a:ext cx="2834640" cy="585216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768096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29984" y="713232"/>
            <a:ext cx="215798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Models &amp; Datasets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327648" y="1353312"/>
            <a:ext cx="2542032" cy="3337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Llama-3.1-8B-Instruct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Mistral-7B-v0.1  |  Zephyr-7B-beta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TOFU (forget01 / 05 / 10)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WMDP-Bio  &amp;  WMDP-Cyber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RWKU (4-subject evaluation subset)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Synthetic dataset (GPT-4o generated)</a:t>
            </a:r>
            <a:endParaRPr lang="en-US" sz="1050" dirty="0"/>
          </a:p>
        </p:txBody>
      </p:sp>
      <p:pic>
        <p:nvPicPr>
          <p:cNvPr id="22" name="Picture 21" descr="WhatsApp_Image_2026-03-21_at_3.00.55_PM-removebg-preview">
            <a:extLst>
              <a:ext uri="{FF2B5EF4-FFF2-40B4-BE49-F238E27FC236}">
                <a16:creationId xmlns:a16="http://schemas.microsoft.com/office/drawing/2014/main" id="{29C454D8-DFEE-0BC2-93A7-4C5F2118926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306" r="16912" b="32474"/>
          <a:stretch>
            <a:fillRect/>
          </a:stretch>
        </p:blipFill>
        <p:spPr>
          <a:xfrm>
            <a:off x="8494585" y="74002"/>
            <a:ext cx="494157" cy="4334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046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Outcomes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82880" y="685800"/>
            <a:ext cx="2084832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685800"/>
            <a:ext cx="2084832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685800"/>
            <a:ext cx="5486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7240" y="713232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Benchmark Report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92608" y="1225296"/>
            <a:ext cx="1865376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Structured comparison of ELM, PISCES, UIPE, RMU &amp; KIF on TOFU and WMDP under dual-metric evaluation (SMR + EL10)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404872" y="685800"/>
            <a:ext cx="2084832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04872" y="685800"/>
            <a:ext cx="2084832" cy="47548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78024" y="685800"/>
            <a:ext cx="5486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999232" y="713232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Unlearning Framework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514600" y="1225296"/>
            <a:ext cx="1865376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Modular Python codebase: activation-signature pipeline, Suppression Capsules, UPU Loop, UIPE parameter extrapolation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26864" y="685800"/>
            <a:ext cx="2084832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26864" y="685800"/>
            <a:ext cx="2084832" cy="47548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00016" y="685800"/>
            <a:ext cx="5486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221224" y="713232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Evaluation Protocol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736592" y="1225296"/>
            <a:ext cx="1865376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Reusable module: SMR, EL10, ROUGE-L, MMLU zero-shot, ARC-Challenge, HellaSwag, TruthfulQA assessment pipeline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848856" y="685800"/>
            <a:ext cx="2084832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848856" y="685800"/>
            <a:ext cx="2084832" cy="47548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22008" y="685800"/>
            <a:ext cx="5486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7443216" y="713232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Report &amp; Presentation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958584" y="1225296"/>
            <a:ext cx="1865376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Formal technical report + panel presentation covering literature survey, methodology, experiments, and conclusions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182880" y="3218688"/>
            <a:ext cx="8778240" cy="1572768"/>
          </a:xfrm>
          <a:prstGeom prst="rect">
            <a:avLst/>
          </a:prstGeom>
          <a:solidFill>
            <a:srgbClr val="0B1D3A"/>
          </a:solidFill>
          <a:ln w="1524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82880" y="3218688"/>
            <a:ext cx="91440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84048" y="3255264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Expected Research Contribution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84048" y="3566160"/>
            <a:ext cx="8412480" cy="11338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</a:rPr>
              <a:t>Robustness to re-learning attacks compared with fine-tuning-based baselines (PISCES / KIF approach)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</a:rPr>
              <a:t>Specificity degradation on semantically adjacent concepts compared with ELM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</a:rPr>
              <a:t>Forget quality on WMDP when related-knowledge extrapolation (UIPE) is applied to GA variants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</a:rPr>
              <a:t>Type I (true erasure) classification on standard foundation models under dual-metric SMR + EL10 protocol</a:t>
            </a:r>
            <a:endParaRPr lang="en-US" sz="950" dirty="0"/>
          </a:p>
        </p:txBody>
      </p:sp>
      <p:pic>
        <p:nvPicPr>
          <p:cNvPr id="31" name="Picture 30" descr="WhatsApp_Image_2026-03-21_at_3.00.55_PM-removebg-preview">
            <a:extLst>
              <a:ext uri="{FF2B5EF4-FFF2-40B4-BE49-F238E27FC236}">
                <a16:creationId xmlns:a16="http://schemas.microsoft.com/office/drawing/2014/main" id="{9806DF99-1034-329B-BE77-C2D871D2CD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306" r="16912" b="32474"/>
          <a:stretch>
            <a:fillRect/>
          </a:stretch>
        </p:blipFill>
        <p:spPr>
          <a:xfrm>
            <a:off x="8494585" y="74002"/>
            <a:ext cx="494157" cy="4334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28600" y="91440"/>
            <a:ext cx="8046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 Plan</a:t>
            </a:r>
            <a:endParaRPr lang="en-US" sz="2200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B60B410B-30B6-7830-C353-231BFF43A8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4" r="1176"/>
          <a:stretch>
            <a:fillRect/>
          </a:stretch>
        </p:blipFill>
        <p:spPr>
          <a:xfrm>
            <a:off x="192024" y="0"/>
            <a:ext cx="8759952" cy="51222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046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Roles &amp; Contributions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82880" y="6858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685800"/>
            <a:ext cx="283464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75895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75895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740664"/>
            <a:ext cx="224942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Rishabh Garg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85800" y="941832"/>
            <a:ext cx="224942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F4F8"/>
                </a:solidFill>
              </a:rPr>
              <a:t>102317044  </a:t>
            </a:r>
            <a:endParaRPr lang="en-US" sz="7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252728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1216152"/>
            <a:ext cx="23957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Lead core research and model development</a:t>
            </a:r>
            <a:endParaRPr lang="en-US" sz="9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636776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1600200"/>
            <a:ext cx="23957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Contributing to implementation of basic model experiments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2020824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" y="1984248"/>
            <a:ext cx="23957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/>
              <a:t>Guiding team discussions</a:t>
            </a:r>
          </a:p>
        </p:txBody>
      </p:sp>
      <p:sp>
        <p:nvSpPr>
          <p:cNvPr id="19" name="Shape 13"/>
          <p:cNvSpPr/>
          <p:nvPr/>
        </p:nvSpPr>
        <p:spPr>
          <a:xfrm>
            <a:off x="3172968" y="6858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3172968" y="685800"/>
            <a:ext cx="2834640" cy="47548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264408" y="75895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264408" y="75895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7A8"/>
                </a:solidFill>
              </a:rPr>
              <a:t>K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675888" y="740664"/>
            <a:ext cx="224942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Karanvir Singh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3675888" y="941832"/>
            <a:ext cx="224942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F4F8"/>
                </a:solidFill>
              </a:rPr>
              <a:t>102317045 </a:t>
            </a:r>
            <a:endParaRPr lang="en-US" sz="7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984" y="1252728"/>
            <a:ext cx="164592" cy="16459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538728" y="1216152"/>
            <a:ext cx="23957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/>
              <a:t>Collaborating on understanding neural networks and LLM concepts</a:t>
            </a:r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984" y="1636776"/>
            <a:ext cx="164592" cy="16459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538728" y="1600200"/>
            <a:ext cx="23957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/>
              <a:t>Assisting in model implementation</a:t>
            </a:r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984" y="2020824"/>
            <a:ext cx="164592" cy="16459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3538728" y="1984248"/>
            <a:ext cx="23957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/>
              <a:t>Model experimentations and debugging</a:t>
            </a:r>
          </a:p>
        </p:txBody>
      </p:sp>
      <p:sp>
        <p:nvSpPr>
          <p:cNvPr id="31" name="Shape 22"/>
          <p:cNvSpPr/>
          <p:nvPr/>
        </p:nvSpPr>
        <p:spPr>
          <a:xfrm>
            <a:off x="6163056" y="6858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6163056" y="685800"/>
            <a:ext cx="2834640" cy="47548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6254496" y="75895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6254496" y="75895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7F00"/>
                </a:solidFill>
              </a:rPr>
              <a:t>K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6665976" y="740664"/>
            <a:ext cx="224942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Kalpesh Paliwal</a:t>
            </a:r>
            <a:endParaRPr lang="en-US" sz="950" dirty="0"/>
          </a:p>
        </p:txBody>
      </p:sp>
      <p:sp>
        <p:nvSpPr>
          <p:cNvPr id="36" name="Text 27"/>
          <p:cNvSpPr/>
          <p:nvPr/>
        </p:nvSpPr>
        <p:spPr>
          <a:xfrm>
            <a:off x="6665976" y="941832"/>
            <a:ext cx="224942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F4F8"/>
                </a:solidFill>
              </a:rPr>
              <a:t>102317087</a:t>
            </a:r>
            <a:endParaRPr lang="en-US" sz="75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252728"/>
            <a:ext cx="164592" cy="164592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528816" y="1216152"/>
            <a:ext cx="23957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/>
              <a:t>Working on data handling, preprocessing and basic analysis</a:t>
            </a:r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636776"/>
            <a:ext cx="164592" cy="16459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528816" y="1600200"/>
            <a:ext cx="23957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/>
              <a:t>Contributing to experiments and documentation</a:t>
            </a:r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020824"/>
            <a:ext cx="164592" cy="164592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528816" y="1984248"/>
            <a:ext cx="23957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950" dirty="0"/>
              <a:t>Interpretation of results using DS techniques</a:t>
            </a:r>
          </a:p>
        </p:txBody>
      </p:sp>
      <p:sp>
        <p:nvSpPr>
          <p:cNvPr id="43" name="Shape 31"/>
          <p:cNvSpPr/>
          <p:nvPr/>
        </p:nvSpPr>
        <p:spPr>
          <a:xfrm>
            <a:off x="1581912" y="265176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4" name="Shape 32"/>
          <p:cNvSpPr/>
          <p:nvPr/>
        </p:nvSpPr>
        <p:spPr>
          <a:xfrm>
            <a:off x="1581912" y="2651760"/>
            <a:ext cx="2834640" cy="47548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1673352" y="272491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6" name="Text 34"/>
          <p:cNvSpPr/>
          <p:nvPr/>
        </p:nvSpPr>
        <p:spPr>
          <a:xfrm>
            <a:off x="1673352" y="272491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21A8"/>
                </a:solidFill>
              </a:rPr>
              <a:t>R</a:t>
            </a:r>
            <a:endParaRPr lang="en-US" sz="1200" dirty="0"/>
          </a:p>
        </p:txBody>
      </p:sp>
      <p:sp>
        <p:nvSpPr>
          <p:cNvPr id="47" name="Text 35"/>
          <p:cNvSpPr/>
          <p:nvPr/>
        </p:nvSpPr>
        <p:spPr>
          <a:xfrm>
            <a:off x="2084832" y="2706624"/>
            <a:ext cx="224942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Rujul Ganjoo</a:t>
            </a:r>
            <a:endParaRPr lang="en-US" sz="950" dirty="0"/>
          </a:p>
        </p:txBody>
      </p:sp>
      <p:sp>
        <p:nvSpPr>
          <p:cNvPr id="48" name="Text 36"/>
          <p:cNvSpPr/>
          <p:nvPr/>
        </p:nvSpPr>
        <p:spPr>
          <a:xfrm>
            <a:off x="2084832" y="2907792"/>
            <a:ext cx="224942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F4F8"/>
                </a:solidFill>
              </a:rPr>
              <a:t>102317200 </a:t>
            </a:r>
            <a:endParaRPr lang="en-US" sz="750" dirty="0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928" y="3218688"/>
            <a:ext cx="164592" cy="164592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1947672" y="3182112"/>
            <a:ext cx="23957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/>
              <a:t>Assisting in Machine Learning Experiments</a:t>
            </a:r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928" y="3602736"/>
            <a:ext cx="164592" cy="164592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1947672" y="3566160"/>
            <a:ext cx="23957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/>
              <a:t>Evaluation of model outputs</a:t>
            </a:r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928" y="3986784"/>
            <a:ext cx="164592" cy="164592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1947672" y="3950208"/>
            <a:ext cx="23957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/>
              <a:t>Comparing results across different approach</a:t>
            </a:r>
          </a:p>
        </p:txBody>
      </p:sp>
      <p:sp>
        <p:nvSpPr>
          <p:cNvPr id="55" name="Shape 40"/>
          <p:cNvSpPr/>
          <p:nvPr/>
        </p:nvSpPr>
        <p:spPr>
          <a:xfrm>
            <a:off x="4617720" y="265176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6" name="Shape 41"/>
          <p:cNvSpPr/>
          <p:nvPr/>
        </p:nvSpPr>
        <p:spPr>
          <a:xfrm>
            <a:off x="4617720" y="2651760"/>
            <a:ext cx="283464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Shape 42"/>
          <p:cNvSpPr/>
          <p:nvPr/>
        </p:nvSpPr>
        <p:spPr>
          <a:xfrm>
            <a:off x="4709160" y="272491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8" name="Text 43"/>
          <p:cNvSpPr/>
          <p:nvPr/>
        </p:nvSpPr>
        <p:spPr>
          <a:xfrm>
            <a:off x="4709160" y="272491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P</a:t>
            </a:r>
            <a:endParaRPr lang="en-US" sz="1200" dirty="0"/>
          </a:p>
        </p:txBody>
      </p:sp>
      <p:sp>
        <p:nvSpPr>
          <p:cNvPr id="59" name="Text 44"/>
          <p:cNvSpPr/>
          <p:nvPr/>
        </p:nvSpPr>
        <p:spPr>
          <a:xfrm>
            <a:off x="5120640" y="2706624"/>
            <a:ext cx="224942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Pranav Goyal</a:t>
            </a:r>
            <a:endParaRPr lang="en-US" sz="950" dirty="0"/>
          </a:p>
        </p:txBody>
      </p:sp>
      <p:sp>
        <p:nvSpPr>
          <p:cNvPr id="60" name="Text 45"/>
          <p:cNvSpPr/>
          <p:nvPr/>
        </p:nvSpPr>
        <p:spPr>
          <a:xfrm>
            <a:off x="5120640" y="2907792"/>
            <a:ext cx="224942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F4F8"/>
                </a:solidFill>
              </a:rPr>
              <a:t>102303146  </a:t>
            </a:r>
            <a:endParaRPr lang="en-US" sz="750" dirty="0"/>
          </a:p>
        </p:txBody>
      </p:sp>
      <p:pic>
        <p:nvPicPr>
          <p:cNvPr id="61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3218688"/>
            <a:ext cx="164592" cy="164592"/>
          </a:xfrm>
          <a:prstGeom prst="rect">
            <a:avLst/>
          </a:prstGeom>
        </p:spPr>
      </p:pic>
      <p:sp>
        <p:nvSpPr>
          <p:cNvPr id="62" name="Text 46"/>
          <p:cNvSpPr/>
          <p:nvPr/>
        </p:nvSpPr>
        <p:spPr>
          <a:xfrm>
            <a:off x="4983480" y="3182112"/>
            <a:ext cx="23957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/>
              <a:t>Developing the platform to present model result</a:t>
            </a:r>
          </a:p>
        </p:txBody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3602736"/>
            <a:ext cx="164592" cy="164592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4983480" y="3566160"/>
            <a:ext cx="23957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/>
              <a:t>Handling documentation</a:t>
            </a:r>
          </a:p>
        </p:txBody>
      </p:sp>
      <p:pic>
        <p:nvPicPr>
          <p:cNvPr id="65" name="Image 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3986784"/>
            <a:ext cx="164592" cy="164592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4983480" y="3950208"/>
            <a:ext cx="23957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/>
              <a:t>Organizing project findings</a:t>
            </a:r>
          </a:p>
        </p:txBody>
      </p:sp>
      <p:sp>
        <p:nvSpPr>
          <p:cNvPr id="67" name="Text 49"/>
          <p:cNvSpPr/>
          <p:nvPr/>
        </p:nvSpPr>
        <p:spPr>
          <a:xfrm>
            <a:off x="182880" y="4736592"/>
            <a:ext cx="8778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8BA4"/>
                </a:solidFill>
              </a:rPr>
              <a:t>All members jointly contribute to code reviews, discussions, and panel presentation preparation.</a:t>
            </a:r>
            <a:endParaRPr lang="en-US" sz="800" dirty="0"/>
          </a:p>
        </p:txBody>
      </p:sp>
      <p:pic>
        <p:nvPicPr>
          <p:cNvPr id="68" name="Picture 67" descr="WhatsApp_Image_2026-03-21_at_3.00.55_PM-removebg-preview">
            <a:extLst>
              <a:ext uri="{FF2B5EF4-FFF2-40B4-BE49-F238E27FC236}">
                <a16:creationId xmlns:a16="http://schemas.microsoft.com/office/drawing/2014/main" id="{27188BCA-186F-0830-4059-487B68EB50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306" r="16912" b="32474"/>
          <a:stretch>
            <a:fillRect/>
          </a:stretch>
        </p:blipFill>
        <p:spPr>
          <a:xfrm>
            <a:off x="8494585" y="74002"/>
            <a:ext cx="494157" cy="4334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0467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82880" y="685800"/>
            <a:ext cx="8778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822960"/>
            <a:ext cx="42062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822960"/>
            <a:ext cx="4206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[1]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22960" y="786384"/>
            <a:ext cx="80010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Qin, H., Zhang, B., &amp; Ji, H. (2024). On Effects of Steering Latent Representation for Large Language Model Unlearning. arXiv:2408.06223.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" y="1536192"/>
            <a:ext cx="420624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536192"/>
            <a:ext cx="4206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[2]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22960" y="1499616"/>
            <a:ext cx="80010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Gandikota, R., Feucht, S., Marks, S., &amp; Bau, D. (2025). Erasing Conceptual Knowledge from Language Models. NeurIPS 2025.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" y="2249424"/>
            <a:ext cx="420624" cy="23774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249424"/>
            <a:ext cx="4206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[3]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" y="2212848"/>
            <a:ext cx="80010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Gur-Arieh, Y., Suslik, C., Hong, Y., Barez, F., &amp; Geva, M. (2025). Precise In-Parameter Concept Erasure in Large Language Models. EMNLP 2025, pp. 18986–19006.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0040" y="2962656"/>
            <a:ext cx="420624" cy="237744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2962656"/>
            <a:ext cx="4206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[4]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" y="2926080"/>
            <a:ext cx="80010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Wang, W., Zhang, M., Ye, X., Ren, Z., Ren, P., &amp; Chen, Z. (2025). UIPE: Enhancing LLM Unlearning by Removing Knowledge Related to Forgetting Targets. Findings of ACL: EMNLP 2025.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040" y="3675888"/>
            <a:ext cx="420624" cy="237744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3675888"/>
            <a:ext cx="4206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[5]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22960" y="3639312"/>
            <a:ext cx="80010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Mahmood, S. N. et al. (2026). Representation-Aware Unlearning via Activation Signatures: From Suppression to Knowledge-Signature Erasure. arXiv:2601.10566v4.</a:t>
            </a:r>
            <a:endParaRPr lang="en-US" sz="950" dirty="0"/>
          </a:p>
        </p:txBody>
      </p:sp>
      <p:pic>
        <p:nvPicPr>
          <p:cNvPr id="23" name="Picture 22" descr="WhatsApp_Image_2026-03-21_at_3.00.55_PM-removebg-preview">
            <a:extLst>
              <a:ext uri="{FF2B5EF4-FFF2-40B4-BE49-F238E27FC236}">
                <a16:creationId xmlns:a16="http://schemas.microsoft.com/office/drawing/2014/main" id="{77D21CF1-FAB8-AAEE-7CD1-E76940B8A8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306" r="16912" b="32474"/>
          <a:stretch>
            <a:fillRect/>
          </a:stretch>
        </p:blipFill>
        <p:spPr>
          <a:xfrm>
            <a:off x="8494585" y="74002"/>
            <a:ext cx="494157" cy="4334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55064" y="1947672"/>
            <a:ext cx="5943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7" name="Shape 4"/>
          <p:cNvSpPr/>
          <p:nvPr/>
        </p:nvSpPr>
        <p:spPr>
          <a:xfrm>
            <a:off x="2889504" y="2898648"/>
            <a:ext cx="34747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0" y="4901184"/>
            <a:ext cx="91440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BA4"/>
                </a:solidFill>
              </a:rPr>
              <a:t>CPG 221  ·  Dept. of Computer Science &amp; Engineering  ·  March 2026</a:t>
            </a:r>
            <a:endParaRPr lang="en-US" sz="800" dirty="0"/>
          </a:p>
        </p:txBody>
      </p:sp>
      <p:pic>
        <p:nvPicPr>
          <p:cNvPr id="22" name="Picture 21" descr="WhatsApp_Image_2026-03-21_at_3.00.55_PM-removebg-preview">
            <a:extLst>
              <a:ext uri="{FF2B5EF4-FFF2-40B4-BE49-F238E27FC236}">
                <a16:creationId xmlns:a16="http://schemas.microsoft.com/office/drawing/2014/main" id="{F418AB48-A144-5756-AC4D-22B31A0B83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306" r="16912" b="32474"/>
          <a:stretch>
            <a:fillRect/>
          </a:stretch>
        </p:blipFill>
        <p:spPr>
          <a:xfrm>
            <a:off x="8494585" y="74002"/>
            <a:ext cx="494157" cy="4334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1372</Words>
  <Application>Microsoft Office PowerPoint</Application>
  <PresentationFormat>On-screen Show (16:9)</PresentationFormat>
  <Paragraphs>200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Selective Knowledge Erasure in LLMs – Capstone Proposal</dc:title>
  <dc:subject>PptxGenJS Presentation</dc:subject>
  <dc:creator>PptxGenJS</dc:creator>
  <cp:lastModifiedBy>Rishabh Garg</cp:lastModifiedBy>
  <cp:revision>10</cp:revision>
  <dcterms:created xsi:type="dcterms:W3CDTF">2026-03-21T12:14:00Z</dcterms:created>
  <dcterms:modified xsi:type="dcterms:W3CDTF">2026-03-21T14:21:37Z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E8C32327DA914AC2B983963B01D4BDBB_12</vt:lpwstr>
  </property>
</Properties>
</file>